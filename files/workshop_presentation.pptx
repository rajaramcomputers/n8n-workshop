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78" r:id="rId4"/>
    <p:sldId id="279" r:id="rId5"/>
    <p:sldId id="277" r:id="rId6"/>
    <p:sldId id="280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253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F5DFD-5C46-5E6C-5E8E-7842E061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2D5A3-B997-C937-709C-8558EE063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83ECF-A8BF-9486-F963-1D7AF82133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1822F-5321-3F38-5B7E-CA66D89167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64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6A463-CEEE-7D80-FE30-847539DD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202C9-0955-C259-D719-D9134044B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AB784-24BC-FD7F-87C4-2DAB51EBA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AC4B9-24DC-55A5-2257-CA79FBAA57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21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64223-484D-8C75-499A-FE03482AF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40692D-4912-CB07-8688-B12C39531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CFE1F-F677-8A1F-B006-1CCF7697A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FA72A-746A-E884-34B1-EBEA8DD6A2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5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0B46-907C-B25A-089C-DD8FDFA4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2C0CC-1EBE-2A37-B9F6-788399D73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B5FE4-3458-AD1B-2F20-71EB0ECB3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5C548-870B-7FFD-8A70-83F2C25D8F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002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A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217920"/>
            <a:ext cx="12161520" cy="64008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0" y="7315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/>
              <a:t>Building Local AI Agents and Automation with n8n</a:t>
            </a:r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Ramkumar Lakshminarayanan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356616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 ·  Ollama  ·  Docker  ·  Qdrant  ·  PostgreSQL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4206240"/>
            <a:ext cx="2011680" cy="5029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Exercises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0" y="4206240"/>
            <a:ext cx="201168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4206240"/>
            <a:ext cx="2011680" cy="50292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4206240"/>
            <a:ext cx="2011680" cy="5029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42062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Open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6236208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40" y="71767"/>
            <a:ext cx="12161520" cy="10515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</a:t>
            </a:r>
            <a:r>
              <a:rPr lang="en-US" sz="3200" dirty="0">
                <a:solidFill>
                  <a:schemeClr val="bg1"/>
                </a:solidFill>
                <a:cs typeface="DIN Next LT Arabic Medium" panose="020B0603020203050203" pitchFamily="34" charset="-78"/>
              </a:rPr>
              <a:t>Why Local AI ? Necessity &amp; Importance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658EFB4-E470-563E-6759-6F83CEC16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38" y="1168898"/>
            <a:ext cx="10770123" cy="53233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48DA-7C4C-ADED-AF7B-2FD474F4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194687-D775-1362-D71A-C3641B6E54C3}"/>
              </a:ext>
            </a:extLst>
          </p:cNvPr>
          <p:cNvSpPr/>
          <p:nvPr/>
        </p:nvSpPr>
        <p:spPr>
          <a:xfrm>
            <a:off x="15240" y="71767"/>
            <a:ext cx="12161520" cy="10515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693A230-19A4-A797-47B0-9EA4FFA90C22}"/>
              </a:ext>
            </a:extLst>
          </p:cNvPr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</a:t>
            </a: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DIN Next LT Arabic Medium" panose="020B0603020203050203" pitchFamily="34" charset="-78"/>
              </a:rPr>
              <a:t>Quantization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5D5DECA-A559-04EE-8843-BDD6CE85231B}"/>
              </a:ext>
            </a:extLst>
          </p:cNvPr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B7977F-5563-4751-8351-9A0AD3CDE93D}"/>
              </a:ext>
            </a:extLst>
          </p:cNvPr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090C3-26CE-5DC3-D9AC-F6C89D08F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46" y="1195094"/>
            <a:ext cx="10582300" cy="499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78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A81A-53D8-F167-9FFB-992112877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C02502-5E16-55D0-B2C1-27D6FF3D6258}"/>
              </a:ext>
            </a:extLst>
          </p:cNvPr>
          <p:cNvSpPr/>
          <p:nvPr/>
        </p:nvSpPr>
        <p:spPr>
          <a:xfrm>
            <a:off x="15240" y="71767"/>
            <a:ext cx="12161520" cy="10515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4C2298-C780-4D33-0562-685A3C0A99E0}"/>
              </a:ext>
            </a:extLst>
          </p:cNvPr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</a:t>
            </a: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DIN Next LT Arabic Medium" panose="020B0603020203050203" pitchFamily="34" charset="-78"/>
              </a:rPr>
              <a:t>AI Agent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6D5C1D6-A43C-C94E-CB3B-9D544C78C7E1}"/>
              </a:ext>
            </a:extLst>
          </p:cNvPr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234D3E-B162-45F7-3BAD-C53D5BBAB0E2}"/>
              </a:ext>
            </a:extLst>
          </p:cNvPr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410372-CA0B-8083-99FB-E13EB434A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42" y="1195094"/>
            <a:ext cx="9270975" cy="465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067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14BCA-BD4F-7769-9BD1-1CFCAF972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0B8961-9F2F-DA6B-2B79-FA9F7FA54A69}"/>
              </a:ext>
            </a:extLst>
          </p:cNvPr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123E2D-25B4-19C1-BAFF-D0724B2D839E}"/>
              </a:ext>
            </a:extLst>
          </p:cNvPr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What is Docker?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99CDE61-49C7-6030-1FDA-C5A7CDC01B46}"/>
              </a:ext>
            </a:extLst>
          </p:cNvPr>
          <p:cNvSpPr/>
          <p:nvPr/>
        </p:nvSpPr>
        <p:spPr>
          <a:xfrm>
            <a:off x="365760" y="1188720"/>
            <a:ext cx="114300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FF83D8-53A5-3BD8-DA5E-F9DCA72BBEAC}"/>
              </a:ext>
            </a:extLst>
          </p:cNvPr>
          <p:cNvSpPr/>
          <p:nvPr/>
        </p:nvSpPr>
        <p:spPr>
          <a:xfrm>
            <a:off x="548640" y="12618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90326BE-AFB9-D5B0-A2B3-A7A9B4D57F56}"/>
              </a:ext>
            </a:extLst>
          </p:cNvPr>
          <p:cNvSpPr/>
          <p:nvPr/>
        </p:nvSpPr>
        <p:spPr>
          <a:xfrm>
            <a:off x="548640" y="162763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environment with everything a program needs to run — code, libraries, settings. Runs identically on any machine.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EAE6E33-7BB7-A635-7ED0-0BF6DB100F43}"/>
              </a:ext>
            </a:extLst>
          </p:cNvPr>
          <p:cNvSpPr/>
          <p:nvPr/>
        </p:nvSpPr>
        <p:spPr>
          <a:xfrm>
            <a:off x="365760" y="2468880"/>
            <a:ext cx="114300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0D8A54B-0201-9FD8-2292-28FD5B5C029F}"/>
              </a:ext>
            </a:extLst>
          </p:cNvPr>
          <p:cNvSpPr/>
          <p:nvPr/>
        </p:nvSpPr>
        <p:spPr>
          <a:xfrm>
            <a:off x="548640" y="2542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4755DC1-AFF2-A23B-D289-C2613760D85E}"/>
              </a:ext>
            </a:extLst>
          </p:cNvPr>
          <p:cNvSpPr/>
          <p:nvPr/>
        </p:nvSpPr>
        <p:spPr>
          <a:xfrm>
            <a:off x="548640" y="29077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for a container. The n8n starter kit includes images for n8n, Ollama, PostgreSQL, and Qdrant.</a:t>
            </a:r>
            <a:endParaRPr lang="en-US" sz="13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A09A265-AD5A-5D8C-4C01-EB51315E11A1}"/>
              </a:ext>
            </a:extLst>
          </p:cNvPr>
          <p:cNvSpPr/>
          <p:nvPr/>
        </p:nvSpPr>
        <p:spPr>
          <a:xfrm>
            <a:off x="365760" y="3749040"/>
            <a:ext cx="114300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1F4E081-DE56-D609-5EE9-F625E258F877}"/>
              </a:ext>
            </a:extLst>
          </p:cNvPr>
          <p:cNvSpPr/>
          <p:nvPr/>
        </p:nvSpPr>
        <p:spPr>
          <a:xfrm>
            <a:off x="548640" y="38221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</a:t>
            </a:r>
            <a:endParaRPr lang="en-US" sz="15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62A1E6-5014-7F7C-ECED-C64934EC4124}"/>
              </a:ext>
            </a:extLst>
          </p:cNvPr>
          <p:cNvSpPr/>
          <p:nvPr/>
        </p:nvSpPr>
        <p:spPr>
          <a:xfrm>
            <a:off x="548640" y="418795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that starts ALL services together. No manual setup for each service.</a:t>
            </a:r>
            <a:endParaRPr lang="en-US" sz="13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6C592B7-E55A-07CE-D54D-6551AB0162F7}"/>
              </a:ext>
            </a:extLst>
          </p:cNvPr>
          <p:cNvSpPr/>
          <p:nvPr/>
        </p:nvSpPr>
        <p:spPr>
          <a:xfrm>
            <a:off x="365760" y="5029200"/>
            <a:ext cx="1143000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F817EBF-41A4-6A35-B5F4-E80152D6A22E}"/>
              </a:ext>
            </a:extLst>
          </p:cNvPr>
          <p:cNvSpPr/>
          <p:nvPr/>
        </p:nvSpPr>
        <p:spPr>
          <a:xfrm>
            <a:off x="548640" y="51023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for AI?</a:t>
            </a:r>
            <a:endParaRPr lang="en-US" sz="15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54A606-9EFF-AC56-52F3-9907468534AA}"/>
              </a:ext>
            </a:extLst>
          </p:cNvPr>
          <p:cNvSpPr/>
          <p:nvPr/>
        </p:nvSpPr>
        <p:spPr>
          <a:xfrm>
            <a:off x="548640" y="546811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Qdrant, and n8n each have complex dependencies. Docker packages them so they work together instantly.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64DD5A6-9E4D-07A1-5B17-9819F8FDAE47}"/>
              </a:ext>
            </a:extLst>
          </p:cNvPr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13F12EB-2F31-B5DA-1B79-A5E7F6232F5A}"/>
              </a:ext>
            </a:extLst>
          </p:cNvPr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05368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CAB0-6DC3-DB1E-9203-1C57ACB5B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6E281BE-7FBC-3527-C35C-D0DA76FEA5D9}"/>
              </a:ext>
            </a:extLst>
          </p:cNvPr>
          <p:cNvSpPr/>
          <p:nvPr/>
        </p:nvSpPr>
        <p:spPr>
          <a:xfrm>
            <a:off x="15240" y="71767"/>
            <a:ext cx="12161520" cy="10515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FE339B-61E4-E915-71E2-F754C854B861}"/>
              </a:ext>
            </a:extLst>
          </p:cNvPr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</a:t>
            </a: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DIN Next LT Arabic Medium" panose="020B0603020203050203" pitchFamily="34" charset="-78"/>
              </a:rPr>
              <a:t>Recommended Username and Password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2855AAA-6277-EEAB-C2B7-3F1D2C083CFB}"/>
              </a:ext>
            </a:extLst>
          </p:cNvPr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9DFBB9E-6D5B-34EF-6185-99C81CFF2E4F}"/>
              </a:ext>
            </a:extLst>
          </p:cNvPr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24FBA-6897-8D6C-7619-9ADD07C5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09" y="1381740"/>
            <a:ext cx="9837105" cy="485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236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n8n AI Starter 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5029200"/>
          </a:xfrm>
          <a:prstGeom prst="rect">
            <a:avLst/>
          </a:prstGeom>
          <a:solidFill>
            <a:srgbClr val="F8FAFE"/>
          </a:solidFill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at http://localhost:5678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workflows visually — no code 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743200" cy="5029200"/>
          </a:xfrm>
          <a:prstGeom prst="rect">
            <a:avLst/>
          </a:prstGeom>
          <a:solidFill>
            <a:srgbClr val="F8FAFE"/>
          </a:solidFill>
          <a:ln w="25400">
            <a:solidFill>
              <a:srgbClr val="E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234440"/>
            <a:ext cx="2743200" cy="50292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model runner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at http://localhost:11434 (internal)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697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run on CPU — no GPU, no API key, no cost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2743200" cy="5029200"/>
          </a:xfrm>
          <a:prstGeom prst="rect">
            <a:avLst/>
          </a:prstGeom>
          <a:solidFill>
            <a:srgbClr val="F8FAFE"/>
          </a:solidFill>
          <a:ln w="254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2743200" cy="502920"/>
          </a:xfrm>
          <a:prstGeom prst="rect">
            <a:avLst/>
          </a:prstGeom>
          <a:solidFill>
            <a:srgbClr val="5D6D7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port: 5432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697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n8n workflow data and execution history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0" y="1234440"/>
            <a:ext cx="2743200" cy="5029200"/>
          </a:xfrm>
          <a:prstGeom prst="rect">
            <a:avLst/>
          </a:prstGeom>
          <a:solidFill>
            <a:srgbClr val="F8FAFE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0" y="1234440"/>
            <a:ext cx="2743200" cy="5029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3544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354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at http://localhost:6333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35440" y="269748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RAG pipeline in Exercise 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Common Setup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all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502920"/>
          </a:xfrm>
          <a:prstGeom prst="rect">
            <a:avLst/>
          </a:prstGeom>
          <a:solidFill>
            <a:srgbClr val="F0F0F0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37160" cy="50292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cpu up -d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containers running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5486400" cy="502920"/>
          </a:xfrm>
          <a:prstGeom prst="rect">
            <a:avLst/>
          </a:prstGeom>
          <a:solidFill>
            <a:srgbClr val="F0F0F0"/>
          </a:solidFill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137160" cy="50292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2735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n8n logs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4892040"/>
            <a:ext cx="5486400" cy="502920"/>
          </a:xfrm>
          <a:prstGeom prst="rect">
            <a:avLst/>
          </a:prstGeom>
          <a:solidFill>
            <a:srgbClr val="F0F0F0"/>
          </a:solidFill>
          <a:ln w="25400">
            <a:solidFill>
              <a:srgbClr val="E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4892040"/>
            <a:ext cx="137160" cy="50292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49194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n8n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 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486400" cy="502920"/>
          </a:xfrm>
          <a:prstGeom prst="rect">
            <a:avLst/>
          </a:prstGeom>
          <a:solidFill>
            <a:srgbClr val="F0F0F0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600200"/>
            <a:ext cx="137160" cy="50292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162763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cpu down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n8n in browser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246120"/>
            <a:ext cx="5486400" cy="502920"/>
          </a:xfrm>
          <a:prstGeom prst="rect">
            <a:avLst/>
          </a:prstGeom>
          <a:solidFill>
            <a:srgbClr val="F0F0F0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3246120"/>
            <a:ext cx="137160" cy="50292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46520" y="327355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http://localhost:5678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Qdrant dashboard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4892040"/>
            <a:ext cx="5486400" cy="502920"/>
          </a:xfrm>
          <a:prstGeom prst="rect">
            <a:avLst/>
          </a:prstGeom>
          <a:solidFill>
            <a:srgbClr val="F0F0F0"/>
          </a:solidFill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17920" y="4892040"/>
            <a:ext cx="137160" cy="50292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4919472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http://localhost:6333/dashboard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Warm-Up: Pull All AI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430000" cy="1078992"/>
          </a:xfrm>
          <a:prstGeom prst="rect">
            <a:avLst/>
          </a:prstGeom>
          <a:solidFill>
            <a:srgbClr val="F9F9F9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64592" cy="107899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ollama pull tinyllama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MB  ·  Exercise 1 — AI Code Reviewer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11430000" cy="1078992"/>
          </a:xfrm>
          <a:prstGeom prst="rect">
            <a:avLst/>
          </a:prstGeom>
          <a:solidFill>
            <a:srgbClr val="F9F9F9"/>
          </a:solidFill>
          <a:ln w="127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164592" cy="1078992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5877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ollama pull phi3:mini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~2.3 GB  ·  Exercises 2 &amp; 3 — ELI5, File Summariser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1078992"/>
          </a:xfrm>
          <a:prstGeom prst="rect">
            <a:avLst/>
          </a:prstGeom>
          <a:solidFill>
            <a:srgbClr val="F9F9F9"/>
          </a:solidFill>
          <a:ln w="12700">
            <a:solidFill>
              <a:srgbClr val="E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64592" cy="1078992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82219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ollama pull qwen2.5:3b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2519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~1.9 GB  ·  Exercises 5 &amp; 6 — Calculator, Logger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983480"/>
            <a:ext cx="11430000" cy="1078992"/>
          </a:xfrm>
          <a:prstGeom prst="rect">
            <a:avLst/>
          </a:prstGeom>
          <a:solidFill>
            <a:srgbClr val="F9F9F9"/>
          </a:solidFill>
          <a:ln w="127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4983480"/>
            <a:ext cx="164592" cy="1078992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50566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ollama ollama pull mxbai-embed-large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~669 MB  ·  Exercise 7 — RAG embeddings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File Handling Commands — Exercise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have isolated file systems. Files on Windows are NOT visible inside Docker — use docker cp to transfer.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folder (run after every Docker restart)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11430000" cy="475488"/>
          </a:xfrm>
          <a:prstGeom prst="rect">
            <a:avLst/>
          </a:prstGeom>
          <a:solidFill>
            <a:srgbClr val="F0F0F0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13716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n8n mkdir -p /home/node/.n8n-files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 from Windows to n8n container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11430000" cy="475488"/>
          </a:xfrm>
          <a:prstGeom prst="rect">
            <a:avLst/>
          </a:prstGeom>
          <a:solidFill>
            <a:srgbClr val="F0F0F0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13716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22783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document.txt n8n:/home/node/.n8n-files/document.txt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023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file from n8n container to Windows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343400"/>
            <a:ext cx="11430000" cy="475488"/>
          </a:xfrm>
          <a:prstGeom prst="rect">
            <a:avLst/>
          </a:prstGeom>
          <a:solidFill>
            <a:srgbClr val="F0F0F0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13716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437083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n8n:/home/node/.n8n-files/summary.txt 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5166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inside the container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5486400"/>
            <a:ext cx="11430000" cy="475488"/>
          </a:xfrm>
          <a:prstGeom prst="rect">
            <a:avLst/>
          </a:prstGeom>
          <a:solidFill>
            <a:srgbClr val="F0F0F0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5486400"/>
            <a:ext cx="137160" cy="47548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551383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n8n ls /home/node/.n8n-files/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6217920"/>
            <a:ext cx="11430000" cy="274320"/>
          </a:xfrm>
          <a:prstGeom prst="rect">
            <a:avLst/>
          </a:prstGeom>
          <a:solidFill>
            <a:srgbClr val="FFF9E6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6236208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The .n8n-files folder is lost on every Docker restart — always re-create it at the start of each session.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Exercise 1 — AI Code Reviewer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Basic LLM Chain + Ollama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→ Basic LLM Chain → Respond to Webhook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HTTP Webhook 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Basic LLM Chain node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Ollama Model sub-node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Respond to Webhook node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Method: POST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 roast-my-code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Mode: Response Node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5212080"/>
            <a:ext cx="109728" cy="5669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9088" y="52395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tinyllama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Exercise 1 — AI Code Reviewer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divide(a, b):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/ 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CODE REVIEW: Missing error handling...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ISSUES: Division by zero not handled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IMPROVEMENTS: Add try/except block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code_reviewer_tester.html in browser. Submit code → AI reviews it and returns structured feedback.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tinyllama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1.json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Exercise 2 — Explain Like I'm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Basic LLM Chain + Prompt Eng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Webhook → Basic LLM Chain → Respond to Webhook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Prompt engineering — system message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Expression mode in prompt field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phi3:mini model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Browser tester HTML page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Method: POST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Path: explain-eli5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Expression mode ({{ $json.body.topic }})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52120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9088" y="52395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You are a friendly teacher...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Exercise 2 — Explain Like I'm 5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RAM in a computer"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"RAM is like your brain's short-term memory. When you open a program, it goes into RAM so your computer can use it quickly. When you close it, it disappears from RAM — just like forgetting something you were just thinking about."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eli5_tester.html in browser. Select phi3:mini → type any CS topic → click Explain It!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phi3:mini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2.json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Exercise 3 — AI File Summariser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Trigger + File + LLM Chain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Manual Trigger → Read File → Extract → LLM Chain → Convert → Write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Manual 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Read/Write Files from Disk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Extract from File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docker cp file transfer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Operation: Read File(s) From Disk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/home/node/.n8n-files/document.txt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Expression mode (={{ $json.data }})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5212080"/>
            <a:ext cx="109728" cy="5669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9088" y="52395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phi3:mini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Exercise 3 — AI File Summariser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cp document.txt n8n:/home/node/.n8n-files/document.txt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computer network connects devices to share resources. Networks are classified as LAN, WAN, or MAN. The internet is the largest WAN using TCP/IP."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Execute Workflow: docker cp n8n:/home/node/.n8n-files/summary.txt . → type summary.txt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phi3:mini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3.json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Exercise 4 — Simple HTTP Request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 + HTTP Request + Edit Fields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Trigger → HTTP Request → Edit Fields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 Trigger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HTTP Request node (GET method)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Edit Fields node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Reading JSON responses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Method: GET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URL: https://catfact.ninja/fact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 Fields: Name=fact, Value={{ $json.fact }}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Exercise 4 — Simple HTTP Request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"give me a cat fact"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"Cats have 230 bones in their body, while humans only have 206."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→ type any message → the API is called automatically and the fact appears in the chat.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Public API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4.json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2980B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Exercise 5 — AI Calculator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 + AI Agent + Calculator Tool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E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Trigger → AI Agent (Chat Model + Memory + Calculator Tool)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Agent node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Chat Model slot + Memory slot + Tool slot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Built-in Calculator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Conversation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Message: You are a helpful financial assistant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Model: qwen2.5:3b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Memory: Context Window = 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5212080"/>
            <a:ext cx="109728" cy="566928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9088" y="52395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Calculator Tool: no parameters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Exercise 5 — AI Calculator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E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128 divided by 4, then multiplied by 3?"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E05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"128 ÷ 4 = 32, then 32 × 3 = 96. The final answer is 96."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→ ask any maths question → the AI Agent calls the Calculator Tool for exact results.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qwen2.5:3b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5.json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05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Exercise 6 — AI Interaction Logger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Trigger + AI Agent + Code Tool + DB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Trigger → AI Agent → Insert Row (Data Table)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Code Tool (JavaScript)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n8n Data Table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Insert Row node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Persistent data storage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={{ $('When chat message received').item.json.chatInput }}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answer_summary: ={{ $json.output.slice(0, 200) }}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word_count: ={{ $json.output.trim().split(/\s+/).length }}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17920" y="5212080"/>
            <a:ext cx="109728" cy="566928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19088" y="52395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timestamp: ={{ new Date().toISOString()... }}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Exercise 6 — AI Interaction Logger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is a binary search tree?"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What is a binary search tree?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answer_summary: A binary search tree is...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word_count: 112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session_count: 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timestamp: 2026-08-22 17:41:08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Chat → ask a question → go to Tables in n8n sidebar → see the row saved in ai_interaction_log.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15-20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qwen2.5:3b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6.json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Exercise 7 — RAG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Workflows: Ingest PDF + Chat Q&amp;A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14300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1: n8n Form → Qdrant (insert)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139696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 2: Chat Trigger → AI Agent → Qdrant (retrieve)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new in this exercise: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278892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182112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Two-workflow architecture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3803904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Qdrant vector 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425696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mxbai-embed-large embeddings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5047488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Retrieve-as-tool mode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1546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109728" cy="566928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19088" y="31821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Collection: rag_collection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3840480"/>
            <a:ext cx="109728" cy="566928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38679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 Size: 1024, Distance: Cosine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5262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17920" y="4526280"/>
            <a:ext cx="109728" cy="566928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19088" y="45537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Size: 200, Overlap: 50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5212080"/>
            <a:ext cx="557784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5212080"/>
            <a:ext cx="109728" cy="566928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19088" y="5239512"/>
            <a:ext cx="5303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 Name: retriever, Embeddings: mxbai-embed-large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30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Exercise 7 — RAG Pipeline  ·  Test &amp; Output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 / Test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548640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109728" cy="201168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664208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are the five steps of RAG?"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AI Output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577840" cy="2011680"/>
          </a:xfrm>
          <a:prstGeom prst="rect">
            <a:avLst/>
          </a:prstGeom>
          <a:solidFill>
            <a:srgbClr val="F5F5F5"/>
          </a:solidFill>
          <a:ln w="25400">
            <a:solidFill>
              <a:srgbClr val="148F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109728" cy="201168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"RAG works in five steps: First, ingest — documents are split into chunks. Second, embed — chunks become vectors. Third, store — vectors go to Qdrant. Fourth, retrieve — question finds similar chunks. Fifth, generate — AI answers from those chunks."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49040"/>
            <a:ext cx="11430000" cy="24688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How to Test This Exercise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1: upload PDF via form. Workflow 2: open chat → ask questions about the document content.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15-20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062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mxbai + qwen2.5:3b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63840" y="5303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JSON file: 7.json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48F7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0" y="10972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🎉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Exercises Complete!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workflow .json files are provided — import, explore, and modify to learn.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749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1. AI Code Reviewer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4343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2. Explain Like Im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937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3. AI File Summariser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5532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4. Simple HTTP Request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3749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5. AI Calculator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43434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6. AI Interaction Logger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4937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7. RAG Pipeline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Ganpat University  ·  Local AI Workflows with n8n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2103</Words>
  <Application>Microsoft Office PowerPoint</Application>
  <PresentationFormat>Widescreen</PresentationFormat>
  <Paragraphs>299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Courier New</vt:lpstr>
      <vt:lpstr>DIN Next LT Arabic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Anonymous</cp:lastModifiedBy>
  <cp:revision>4</cp:revision>
  <dcterms:created xsi:type="dcterms:W3CDTF">2026-08-22T19:13:10Z</dcterms:created>
  <dcterms:modified xsi:type="dcterms:W3CDTF">2026-08-25T02:06:12Z</dcterms:modified>
</cp:coreProperties>
</file>